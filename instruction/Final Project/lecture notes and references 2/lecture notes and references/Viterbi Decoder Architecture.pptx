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2" r:id="rId4"/>
    <p:sldId id="258" r:id="rId5"/>
    <p:sldId id="259" r:id="rId6"/>
    <p:sldId id="260" r:id="rId7"/>
    <p:sldId id="263" r:id="rId8"/>
    <p:sldId id="261"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3" d="100"/>
          <a:sy n="73" d="100"/>
        </p:scale>
        <p:origin x="61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48D7958F-441F-4714-9B47-92790A7BDE2D}" type="datetimeFigureOut">
              <a:rPr lang="en-US" smtClean="0"/>
              <a:t>2025-02-27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5BEFE9-1525-41DE-B74E-D9F4940493BD}" type="slidenum">
              <a:rPr lang="en-US" smtClean="0"/>
              <a:t>‹#›</a:t>
            </a:fld>
            <a:endParaRPr lang="en-US"/>
          </a:p>
        </p:txBody>
      </p:sp>
    </p:spTree>
    <p:extLst>
      <p:ext uri="{BB962C8B-B14F-4D97-AF65-F5344CB8AC3E}">
        <p14:creationId xmlns:p14="http://schemas.microsoft.com/office/powerpoint/2010/main" val="31074659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8D7958F-441F-4714-9B47-92790A7BDE2D}" type="datetimeFigureOut">
              <a:rPr lang="en-US" smtClean="0"/>
              <a:t>2025-02-27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5BEFE9-1525-41DE-B74E-D9F4940493BD}" type="slidenum">
              <a:rPr lang="en-US" smtClean="0"/>
              <a:t>‹#›</a:t>
            </a:fld>
            <a:endParaRPr lang="en-US"/>
          </a:p>
        </p:txBody>
      </p:sp>
    </p:spTree>
    <p:extLst>
      <p:ext uri="{BB962C8B-B14F-4D97-AF65-F5344CB8AC3E}">
        <p14:creationId xmlns:p14="http://schemas.microsoft.com/office/powerpoint/2010/main" val="9257297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8D7958F-441F-4714-9B47-92790A7BDE2D}" type="datetimeFigureOut">
              <a:rPr lang="en-US" smtClean="0"/>
              <a:t>2025-02-27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5BEFE9-1525-41DE-B74E-D9F4940493BD}" type="slidenum">
              <a:rPr lang="en-US" smtClean="0"/>
              <a:t>‹#›</a:t>
            </a:fld>
            <a:endParaRPr lang="en-US"/>
          </a:p>
        </p:txBody>
      </p:sp>
    </p:spTree>
    <p:extLst>
      <p:ext uri="{BB962C8B-B14F-4D97-AF65-F5344CB8AC3E}">
        <p14:creationId xmlns:p14="http://schemas.microsoft.com/office/powerpoint/2010/main" val="15591697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48D7958F-441F-4714-9B47-92790A7BDE2D}" type="datetimeFigureOut">
              <a:rPr lang="en-US" smtClean="0"/>
              <a:t>2025-02-27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B5BEFE9-1525-41DE-B74E-D9F4940493BD}" type="slidenum">
              <a:rPr lang="en-US" smtClean="0"/>
              <a:t>‹#›</a:t>
            </a:fld>
            <a:endParaRPr lang="en-US"/>
          </a:p>
        </p:txBody>
      </p:sp>
    </p:spTree>
    <p:extLst>
      <p:ext uri="{BB962C8B-B14F-4D97-AF65-F5344CB8AC3E}">
        <p14:creationId xmlns:p14="http://schemas.microsoft.com/office/powerpoint/2010/main" val="39325164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48D7958F-441F-4714-9B47-92790A7BDE2D}" type="datetimeFigureOut">
              <a:rPr lang="en-US" smtClean="0"/>
              <a:t>2025-02-27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B5BEFE9-1525-41DE-B74E-D9F4940493BD}" type="slidenum">
              <a:rPr lang="en-US" smtClean="0"/>
              <a:t>‹#›</a:t>
            </a:fld>
            <a:endParaRPr lang="en-US"/>
          </a:p>
        </p:txBody>
      </p:sp>
    </p:spTree>
    <p:extLst>
      <p:ext uri="{BB962C8B-B14F-4D97-AF65-F5344CB8AC3E}">
        <p14:creationId xmlns:p14="http://schemas.microsoft.com/office/powerpoint/2010/main" val="8335535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8D7958F-441F-4714-9B47-92790A7BDE2D}" type="datetimeFigureOut">
              <a:rPr lang="en-US" smtClean="0"/>
              <a:t>2025-02-27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B5BEFE9-1525-41DE-B74E-D9F4940493BD}" type="slidenum">
              <a:rPr lang="en-US" smtClean="0"/>
              <a:t>‹#›</a:t>
            </a:fld>
            <a:endParaRPr lang="en-US"/>
          </a:p>
        </p:txBody>
      </p:sp>
    </p:spTree>
    <p:extLst>
      <p:ext uri="{BB962C8B-B14F-4D97-AF65-F5344CB8AC3E}">
        <p14:creationId xmlns:p14="http://schemas.microsoft.com/office/powerpoint/2010/main" val="10787003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D7958F-441F-4714-9B47-92790A7BDE2D}" type="datetimeFigureOut">
              <a:rPr lang="en-US" smtClean="0"/>
              <a:t>2025-02-27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B5BEFE9-1525-41DE-B74E-D9F4940493BD}" type="slidenum">
              <a:rPr lang="en-US" smtClean="0"/>
              <a:t>‹#›</a:t>
            </a:fld>
            <a:endParaRPr lang="en-US"/>
          </a:p>
        </p:txBody>
      </p:sp>
    </p:spTree>
    <p:extLst>
      <p:ext uri="{BB962C8B-B14F-4D97-AF65-F5344CB8AC3E}">
        <p14:creationId xmlns:p14="http://schemas.microsoft.com/office/powerpoint/2010/main" val="33942683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8D7958F-441F-4714-9B47-92790A7BDE2D}" type="datetimeFigureOut">
              <a:rPr lang="en-US" smtClean="0"/>
              <a:t>2025-02-27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B5BEFE9-1525-41DE-B74E-D9F4940493BD}" type="slidenum">
              <a:rPr lang="en-US" smtClean="0"/>
              <a:t>‹#›</a:t>
            </a:fld>
            <a:endParaRPr lang="en-US"/>
          </a:p>
        </p:txBody>
      </p:sp>
    </p:spTree>
    <p:extLst>
      <p:ext uri="{BB962C8B-B14F-4D97-AF65-F5344CB8AC3E}">
        <p14:creationId xmlns:p14="http://schemas.microsoft.com/office/powerpoint/2010/main" val="10394882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8D7958F-441F-4714-9B47-92790A7BDE2D}" type="datetimeFigureOut">
              <a:rPr lang="en-US" smtClean="0"/>
              <a:t>2025-02-27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B5BEFE9-1525-41DE-B74E-D9F4940493BD}" type="slidenum">
              <a:rPr lang="en-US" smtClean="0"/>
              <a:t>‹#›</a:t>
            </a:fld>
            <a:endParaRPr lang="en-US"/>
          </a:p>
        </p:txBody>
      </p:sp>
    </p:spTree>
    <p:extLst>
      <p:ext uri="{BB962C8B-B14F-4D97-AF65-F5344CB8AC3E}">
        <p14:creationId xmlns:p14="http://schemas.microsoft.com/office/powerpoint/2010/main" val="5655025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8D7958F-441F-4714-9B47-92790A7BDE2D}" type="datetimeFigureOut">
              <a:rPr lang="en-US" smtClean="0"/>
              <a:t>2025-02-27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5BEFE9-1525-41DE-B74E-D9F4940493BD}" type="slidenum">
              <a:rPr lang="en-US" smtClean="0"/>
              <a:t>‹#›</a:t>
            </a:fld>
            <a:endParaRPr lang="en-US"/>
          </a:p>
        </p:txBody>
      </p:sp>
    </p:spTree>
    <p:extLst>
      <p:ext uri="{BB962C8B-B14F-4D97-AF65-F5344CB8AC3E}">
        <p14:creationId xmlns:p14="http://schemas.microsoft.com/office/powerpoint/2010/main" val="3707100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8D7958F-441F-4714-9B47-92790A7BDE2D}" type="datetimeFigureOut">
              <a:rPr lang="en-US" smtClean="0"/>
              <a:t>2025-02-27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5BEFE9-1525-41DE-B74E-D9F4940493BD}" type="slidenum">
              <a:rPr lang="en-US" smtClean="0"/>
              <a:t>‹#›</a:t>
            </a:fld>
            <a:endParaRPr lang="en-US"/>
          </a:p>
        </p:txBody>
      </p:sp>
    </p:spTree>
    <p:extLst>
      <p:ext uri="{BB962C8B-B14F-4D97-AF65-F5344CB8AC3E}">
        <p14:creationId xmlns:p14="http://schemas.microsoft.com/office/powerpoint/2010/main" val="9375648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8D7958F-441F-4714-9B47-92790A7BDE2D}" type="datetimeFigureOut">
              <a:rPr lang="en-US" smtClean="0"/>
              <a:t>2025-02-27</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B5BEFE9-1525-41DE-B74E-D9F4940493BD}" type="slidenum">
              <a:rPr lang="en-US" smtClean="0"/>
              <a:t>‹#›</a:t>
            </a:fld>
            <a:endParaRPr lang="en-US"/>
          </a:p>
        </p:txBody>
      </p:sp>
    </p:spTree>
    <p:extLst>
      <p:ext uri="{BB962C8B-B14F-4D97-AF65-F5344CB8AC3E}">
        <p14:creationId xmlns:p14="http://schemas.microsoft.com/office/powerpoint/2010/main" val="39714878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mtClean="0"/>
              <a:t>Viterbi Decoder Architecture</a:t>
            </a:r>
            <a:endParaRPr lang="en-US"/>
          </a:p>
        </p:txBody>
      </p:sp>
      <p:sp>
        <p:nvSpPr>
          <p:cNvPr id="3" name="Subtitle 2"/>
          <p:cNvSpPr>
            <a:spLocks noGrp="1"/>
          </p:cNvSpPr>
          <p:nvPr>
            <p:ph type="subTitle" idx="1"/>
          </p:nvPr>
        </p:nvSpPr>
        <p:spPr/>
        <p:txBody>
          <a:bodyPr/>
          <a:lstStyle/>
          <a:p>
            <a:r>
              <a:rPr lang="en-US" smtClean="0"/>
              <a:t>How to Build It</a:t>
            </a:r>
            <a:endParaRPr lang="en-US"/>
          </a:p>
        </p:txBody>
      </p:sp>
    </p:spTree>
    <p:extLst>
      <p:ext uri="{BB962C8B-B14F-4D97-AF65-F5344CB8AC3E}">
        <p14:creationId xmlns:p14="http://schemas.microsoft.com/office/powerpoint/2010/main" val="32563535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smtClean="0">
                <a:solidFill>
                  <a:schemeClr val="tx2"/>
                </a:solidFill>
              </a:rPr>
              <a:t>Top Level Block Diagram</a:t>
            </a:r>
            <a:endParaRPr lang="en-US" b="1">
              <a:solidFill>
                <a:schemeClr val="tx2"/>
              </a:solidFill>
            </a:endParaRPr>
          </a:p>
        </p:txBody>
      </p:sp>
      <p:sp>
        <p:nvSpPr>
          <p:cNvPr id="5" name="TextBox 4"/>
          <p:cNvSpPr txBox="1"/>
          <p:nvPr/>
        </p:nvSpPr>
        <p:spPr>
          <a:xfrm>
            <a:off x="1476103" y="4689566"/>
            <a:ext cx="6302623" cy="1754326"/>
          </a:xfrm>
          <a:prstGeom prst="rect">
            <a:avLst/>
          </a:prstGeom>
          <a:noFill/>
        </p:spPr>
        <p:txBody>
          <a:bodyPr wrap="none" rtlCol="0">
            <a:spAutoFit/>
          </a:bodyPr>
          <a:lstStyle/>
          <a:p>
            <a:r>
              <a:rPr lang="en-US" smtClean="0"/>
              <a:t>BMU = Branch Metric </a:t>
            </a:r>
          </a:p>
          <a:p>
            <a:r>
              <a:rPr lang="en-US" smtClean="0"/>
              <a:t>PMU = Path Metric</a:t>
            </a:r>
            <a:endParaRPr lang="en-US" smtClean="0"/>
          </a:p>
          <a:p>
            <a:r>
              <a:rPr lang="en-US" smtClean="0"/>
              <a:t>	ACS = Add, Compare, Select -- component withing PMU</a:t>
            </a:r>
          </a:p>
          <a:p>
            <a:r>
              <a:rPr lang="en-US" smtClean="0"/>
              <a:t>TBU = Traceback Unit</a:t>
            </a:r>
          </a:p>
          <a:p>
            <a:r>
              <a:rPr lang="en-US" smtClean="0"/>
              <a:t>FILO = RAM used as push/pop stack</a:t>
            </a:r>
          </a:p>
          <a:p>
            <a:r>
              <a:rPr lang="en-US" smtClean="0"/>
              <a:t> </a:t>
            </a:r>
            <a:endParaRPr lang="en-US"/>
          </a:p>
        </p:txBody>
      </p:sp>
      <p:pic>
        <p:nvPicPr>
          <p:cNvPr id="1028" name="Picture 4" descr="undefine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32125" y="1960525"/>
            <a:ext cx="7534275" cy="1990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06544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10532"/>
          </a:xfrm>
        </p:spPr>
        <p:txBody>
          <a:bodyPr/>
          <a:lstStyle/>
          <a:p>
            <a:pPr algn="ctr"/>
            <a:r>
              <a:rPr lang="en-US" b="1" smtClean="0">
                <a:solidFill>
                  <a:schemeClr val="tx2"/>
                </a:solidFill>
              </a:rPr>
              <a:t> Viterbi Decoder Architecture</a:t>
            </a:r>
            <a:endParaRPr lang="en-US" b="1">
              <a:solidFill>
                <a:schemeClr val="tx2"/>
              </a:solidFill>
            </a:endParaRPr>
          </a:p>
        </p:txBody>
      </p:sp>
      <p:sp>
        <p:nvSpPr>
          <p:cNvPr id="3" name="Content Placeholder 2"/>
          <p:cNvSpPr>
            <a:spLocks noGrp="1"/>
          </p:cNvSpPr>
          <p:nvPr>
            <p:ph idx="1"/>
          </p:nvPr>
        </p:nvSpPr>
        <p:spPr>
          <a:xfrm>
            <a:off x="838200" y="4428309"/>
            <a:ext cx="10515600" cy="2103120"/>
          </a:xfrm>
        </p:spPr>
        <p:txBody>
          <a:bodyPr/>
          <a:lstStyle/>
          <a:p>
            <a:r>
              <a:rPr lang="en-US" smtClean="0"/>
              <a:t>Branch Metric Unit</a:t>
            </a:r>
          </a:p>
          <a:p>
            <a:r>
              <a:rPr lang="en-US" smtClean="0"/>
              <a:t>Path Metric Unit, aka ACSU</a:t>
            </a:r>
          </a:p>
          <a:p>
            <a:r>
              <a:rPr lang="en-US" smtClean="0"/>
              <a:t>Add-Compare-Select Unit</a:t>
            </a:r>
          </a:p>
          <a:p>
            <a:r>
              <a:rPr lang="en-US" smtClean="0"/>
              <a:t>TraceBack Unit</a:t>
            </a:r>
            <a:endParaRPr lang="en-US"/>
          </a:p>
        </p:txBody>
      </p:sp>
      <p:pic>
        <p:nvPicPr>
          <p:cNvPr id="4" name="Picture 3"/>
          <p:cNvPicPr>
            <a:picLocks noChangeAspect="1"/>
          </p:cNvPicPr>
          <p:nvPr/>
        </p:nvPicPr>
        <p:blipFill rotWithShape="1">
          <a:blip r:embed="rId2"/>
          <a:srcRect l="2724" t="36902" r="4286" b="10706"/>
          <a:stretch/>
        </p:blipFill>
        <p:spPr>
          <a:xfrm>
            <a:off x="1801788" y="1293223"/>
            <a:ext cx="9559703" cy="2586446"/>
          </a:xfrm>
          <a:prstGeom prst="rect">
            <a:avLst/>
          </a:prstGeom>
        </p:spPr>
      </p:pic>
    </p:spTree>
    <p:extLst>
      <p:ext uri="{BB962C8B-B14F-4D97-AF65-F5344CB8AC3E}">
        <p14:creationId xmlns:p14="http://schemas.microsoft.com/office/powerpoint/2010/main" val="18818296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smtClean="0">
                <a:solidFill>
                  <a:schemeClr val="tx2"/>
                </a:solidFill>
              </a:rPr>
              <a:t>Branch Metric Unit</a:t>
            </a:r>
            <a:endParaRPr lang="en-US" b="1">
              <a:solidFill>
                <a:schemeClr val="tx2"/>
              </a:solidFill>
            </a:endParaRPr>
          </a:p>
        </p:txBody>
      </p:sp>
      <p:sp>
        <p:nvSpPr>
          <p:cNvPr id="3" name="Content Placeholder 2"/>
          <p:cNvSpPr>
            <a:spLocks noGrp="1"/>
          </p:cNvSpPr>
          <p:nvPr>
            <p:ph idx="1"/>
          </p:nvPr>
        </p:nvSpPr>
        <p:spPr/>
        <p:txBody>
          <a:bodyPr/>
          <a:lstStyle/>
          <a:p>
            <a:r>
              <a:rPr lang="en-US" smtClean="0"/>
              <a:t>Computes Hamming distance between received signal and outputs of candidate internal encoders</a:t>
            </a:r>
          </a:p>
          <a:p>
            <a:r>
              <a:rPr lang="en-US" smtClean="0"/>
              <a:t>This calculation assesses the similarity between the received and possible transmitted signals. The BMU processes these metrics for each received symbol or bit and forwards the results to the Path Metric Unit.</a:t>
            </a:r>
            <a:endParaRPr lang="en-US"/>
          </a:p>
        </p:txBody>
      </p:sp>
    </p:spTree>
    <p:extLst>
      <p:ext uri="{BB962C8B-B14F-4D97-AF65-F5344CB8AC3E}">
        <p14:creationId xmlns:p14="http://schemas.microsoft.com/office/powerpoint/2010/main" val="1842070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smtClean="0">
                <a:solidFill>
                  <a:schemeClr val="tx2"/>
                </a:solidFill>
              </a:rPr>
              <a:t>Path Metric Unit / Add-Compare-Select</a:t>
            </a:r>
            <a:endParaRPr lang="en-US" b="1">
              <a:solidFill>
                <a:schemeClr val="tx2"/>
              </a:solidFill>
            </a:endParaRPr>
          </a:p>
        </p:txBody>
      </p:sp>
      <p:sp>
        <p:nvSpPr>
          <p:cNvPr id="3" name="Content Placeholder 2"/>
          <p:cNvSpPr>
            <a:spLocks noGrp="1"/>
          </p:cNvSpPr>
          <p:nvPr>
            <p:ph idx="1"/>
          </p:nvPr>
        </p:nvSpPr>
        <p:spPr>
          <a:xfrm>
            <a:off x="838200" y="1690687"/>
            <a:ext cx="10515600" cy="4486275"/>
          </a:xfrm>
        </p:spPr>
        <p:txBody>
          <a:bodyPr/>
          <a:lstStyle/>
          <a:p>
            <a:r>
              <a:rPr lang="en-US" smtClean="0"/>
              <a:t>Summarizes competing path metrics for 2</a:t>
            </a:r>
            <a:r>
              <a:rPr lang="en-US" baseline="30000" smtClean="0"/>
              <a:t>K-1</a:t>
            </a:r>
            <a:r>
              <a:rPr lang="en-US" smtClean="0"/>
              <a:t> paths.</a:t>
            </a:r>
          </a:p>
          <a:p>
            <a:r>
              <a:rPr lang="en-US" smtClean="0"/>
              <a:t>Updates path metrics by adding branch metrics from the BMU. </a:t>
            </a:r>
          </a:p>
          <a:p>
            <a:r>
              <a:rPr lang="en-US"/>
              <a:t>T</a:t>
            </a:r>
            <a:r>
              <a:rPr lang="en-US" smtClean="0"/>
              <a:t>racks the better path's cumulative metric for each trellis state</a:t>
            </a:r>
          </a:p>
          <a:p>
            <a:r>
              <a:rPr lang="en-US" smtClean="0"/>
              <a:t>Compares all paths leading to each state and selects the one with the lowest metric = most probable path. </a:t>
            </a:r>
          </a:p>
          <a:p>
            <a:r>
              <a:rPr lang="en-US" smtClean="0"/>
              <a:t>Repeats at each stage, providing a set of most likely (survivor) paths for each state. </a:t>
            </a:r>
          </a:p>
          <a:p>
            <a:r>
              <a:rPr lang="en-US" smtClean="0"/>
              <a:t>This facilitates pruning of the "loser paths."</a:t>
            </a:r>
          </a:p>
          <a:p>
            <a:endParaRPr lang="en-US"/>
          </a:p>
        </p:txBody>
      </p:sp>
    </p:spTree>
    <p:extLst>
      <p:ext uri="{BB962C8B-B14F-4D97-AF65-F5344CB8AC3E}">
        <p14:creationId xmlns:p14="http://schemas.microsoft.com/office/powerpoint/2010/main" val="37067262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smtClean="0">
                <a:solidFill>
                  <a:schemeClr val="tx2"/>
                </a:solidFill>
              </a:rPr>
              <a:t>TraceBack</a:t>
            </a:r>
            <a:r>
              <a:rPr lang="en-US" smtClean="0">
                <a:solidFill>
                  <a:schemeClr val="tx2"/>
                </a:solidFill>
              </a:rPr>
              <a:t> </a:t>
            </a:r>
            <a:r>
              <a:rPr lang="en-US" b="1" smtClean="0">
                <a:solidFill>
                  <a:schemeClr val="tx2"/>
                </a:solidFill>
              </a:rPr>
              <a:t>Unit (TBU)</a:t>
            </a:r>
            <a:endParaRPr lang="en-US" b="1">
              <a:solidFill>
                <a:schemeClr val="tx2"/>
              </a:solidFill>
            </a:endParaRPr>
          </a:p>
        </p:txBody>
      </p:sp>
      <p:sp>
        <p:nvSpPr>
          <p:cNvPr id="3" name="Content Placeholder 2"/>
          <p:cNvSpPr>
            <a:spLocks noGrp="1"/>
          </p:cNvSpPr>
          <p:nvPr>
            <p:ph idx="1"/>
          </p:nvPr>
        </p:nvSpPr>
        <p:spPr/>
        <p:txBody>
          <a:bodyPr/>
          <a:lstStyle/>
          <a:p>
            <a:r>
              <a:rPr lang="en-US" smtClean="0"/>
              <a:t>Restores most likely path from PMU decisions.</a:t>
            </a:r>
          </a:p>
          <a:p>
            <a:r>
              <a:rPr lang="en-US" smtClean="0"/>
              <a:t>Uses FILO (first in/last out) memory</a:t>
            </a:r>
          </a:p>
          <a:p>
            <a:r>
              <a:rPr lang="en-US" smtClean="0"/>
              <a:t>Memory depth typically 5*(K-1)</a:t>
            </a:r>
          </a:p>
          <a:p>
            <a:r>
              <a:rPr lang="en-US" smtClean="0"/>
              <a:t>Works best if we know the starting and ending states -- facilitate this by using a 0, 0, 0 preamble and 0, 0, 0 postamble with the message body.</a:t>
            </a:r>
          </a:p>
          <a:p>
            <a:endParaRPr lang="en-US" smtClean="0"/>
          </a:p>
        </p:txBody>
      </p:sp>
    </p:spTree>
    <p:extLst>
      <p:ext uri="{BB962C8B-B14F-4D97-AF65-F5344CB8AC3E}">
        <p14:creationId xmlns:p14="http://schemas.microsoft.com/office/powerpoint/2010/main" val="11577354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84406"/>
          </a:xfrm>
        </p:spPr>
        <p:txBody>
          <a:bodyPr/>
          <a:lstStyle/>
          <a:p>
            <a:pPr algn="ctr"/>
            <a:r>
              <a:rPr lang="en-US" b="1" smtClean="0">
                <a:solidFill>
                  <a:schemeClr val="tx2"/>
                </a:solidFill>
              </a:rPr>
              <a:t>Traceback Unit (TBU)</a:t>
            </a:r>
            <a:endParaRPr lang="en-US" b="1">
              <a:solidFill>
                <a:schemeClr val="tx2"/>
              </a:solidFill>
            </a:endParaRPr>
          </a:p>
        </p:txBody>
      </p:sp>
      <p:sp>
        <p:nvSpPr>
          <p:cNvPr id="3" name="Content Placeholder 2"/>
          <p:cNvSpPr>
            <a:spLocks noGrp="1"/>
          </p:cNvSpPr>
          <p:nvPr>
            <p:ph idx="1"/>
          </p:nvPr>
        </p:nvSpPr>
        <p:spPr>
          <a:xfrm>
            <a:off x="838200" y="1120227"/>
            <a:ext cx="10515600" cy="5450390"/>
          </a:xfrm>
        </p:spPr>
        <p:txBody>
          <a:bodyPr/>
          <a:lstStyle/>
          <a:p>
            <a:r>
              <a:rPr lang="en-US" smtClean="0"/>
              <a:t>Identifies the most probable sequence of states, following the processing of received symbols by the PMU. </a:t>
            </a:r>
          </a:p>
          <a:p>
            <a:r>
              <a:rPr lang="en-US" smtClean="0"/>
              <a:t>Retraces the trellis from the final state with the lowest path metric. </a:t>
            </a:r>
          </a:p>
          <a:p>
            <a:r>
              <a:rPr lang="en-US" smtClean="0"/>
              <a:t>Starts at the end of the trellis structure, and traces back through the survivor paths using pointers or references, to determine the most probable transmitted sequence. </a:t>
            </a:r>
          </a:p>
          <a:p>
            <a:r>
              <a:rPr lang="en-US" smtClean="0"/>
              <a:t>The length of the traceback is determined by the constraint length of the convolutional code, impacting both the decoding latency and complexity. </a:t>
            </a:r>
          </a:p>
          <a:p>
            <a:r>
              <a:rPr lang="en-US" smtClean="0"/>
              <a:t>Upon completing the traceback process, the decoded data is output, with appended tail bits removed.</a:t>
            </a:r>
            <a:endParaRPr lang="en-US"/>
          </a:p>
        </p:txBody>
      </p:sp>
    </p:spTree>
    <p:extLst>
      <p:ext uri="{BB962C8B-B14F-4D97-AF65-F5344CB8AC3E}">
        <p14:creationId xmlns:p14="http://schemas.microsoft.com/office/powerpoint/2010/main" val="28326052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smtClean="0">
                <a:solidFill>
                  <a:schemeClr val="tx2"/>
                </a:solidFill>
              </a:rPr>
              <a:t>Hard vs. Soft Decoding</a:t>
            </a:r>
            <a:endParaRPr lang="en-US" b="1">
              <a:solidFill>
                <a:schemeClr val="tx2"/>
              </a:solidFill>
            </a:endParaRPr>
          </a:p>
        </p:txBody>
      </p:sp>
      <p:sp>
        <p:nvSpPr>
          <p:cNvPr id="3" name="Content Placeholder 2"/>
          <p:cNvSpPr>
            <a:spLocks noGrp="1"/>
          </p:cNvSpPr>
          <p:nvPr>
            <p:ph idx="1"/>
          </p:nvPr>
        </p:nvSpPr>
        <p:spPr/>
        <p:txBody>
          <a:bodyPr/>
          <a:lstStyle/>
          <a:p>
            <a:r>
              <a:rPr lang="en-US" smtClean="0"/>
              <a:t>Hard decoding is easy; soft decoding is hard. </a:t>
            </a:r>
          </a:p>
          <a:p>
            <a:r>
              <a:rPr lang="en-US" smtClean="0"/>
              <a:t>We are doing hard decoding in this class. </a:t>
            </a:r>
          </a:p>
          <a:p>
            <a:r>
              <a:rPr lang="en-US" smtClean="0"/>
              <a:t>In a noisy channel, in which data points are not crisp 1 and 0 (or 1 and -1) values, soft decoding will provide more reliable error correction.</a:t>
            </a:r>
          </a:p>
          <a:p>
            <a:r>
              <a:rPr lang="en-US" smtClean="0"/>
              <a:t>As with any error correction algorithm, if errors come too frequently or in bursts, our system will not be able to perform properly. It may introduce new errors while failing to correct some of the existing errors. </a:t>
            </a:r>
            <a:endParaRPr lang="en-US"/>
          </a:p>
        </p:txBody>
      </p:sp>
    </p:spTree>
    <p:extLst>
      <p:ext uri="{BB962C8B-B14F-4D97-AF65-F5344CB8AC3E}">
        <p14:creationId xmlns:p14="http://schemas.microsoft.com/office/powerpoint/2010/main" val="30315181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135</TotalTime>
  <Words>434</Words>
  <Application>Microsoft Office PowerPoint</Application>
  <PresentationFormat>Widescreen</PresentationFormat>
  <Paragraphs>40</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Calibri Light</vt:lpstr>
      <vt:lpstr>Office Theme</vt:lpstr>
      <vt:lpstr>Viterbi Decoder Architecture</vt:lpstr>
      <vt:lpstr>Top Level Block Diagram</vt:lpstr>
      <vt:lpstr> Viterbi Decoder Architecture</vt:lpstr>
      <vt:lpstr>Branch Metric Unit</vt:lpstr>
      <vt:lpstr>Path Metric Unit / Add-Compare-Select</vt:lpstr>
      <vt:lpstr>TraceBack Unit (TBU)</vt:lpstr>
      <vt:lpstr>Traceback Unit (TBU)</vt:lpstr>
      <vt:lpstr>Hard vs. Soft Decoding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Viterbi Decoder Architecture</dc:title>
  <dc:creator>John Eldon</dc:creator>
  <cp:lastModifiedBy>John Eldon</cp:lastModifiedBy>
  <cp:revision>19</cp:revision>
  <dcterms:created xsi:type="dcterms:W3CDTF">2025-02-28T01:38:40Z</dcterms:created>
  <dcterms:modified xsi:type="dcterms:W3CDTF">2025-02-28T03:54:39Z</dcterms:modified>
</cp:coreProperties>
</file>